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tiff" ContentType="image/tiff"/>
  <Default Extension="rels" ContentType="application/vnd.openxmlformats-package.relationships+xml"/>
  <Default Extension="xml" ContentType="application/xml"/>
  <Default Extension="ttf" ContentType="application/x-font-ttf"/>
  <Default Extension="otf" ContentType="application/x-font-ttf"/>
  <Default Extension="eot" ContentType="application/x-fontdata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entation.xml" ContentType="application/vnd.openxmlformats-officedocument.presentationml.presentation.main+xml"/>
  <Override PartName="/docProps/app.xml" ContentType="application/vnd.openxmlformats-officedocument.extended-properties+xml"/>
  <Override PartName="/docProps/core.xml" ContentType="application/vnd.openxmlformats-package.core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
<Relationships xmlns="http://schemas.openxmlformats.org/package/2006/relationships">
<Relationship Id="rId1" Type="http://schemas.openxmlformats.org/officeDocument/2006/relationships/officeDocument" Target="ppt/presentation.xml"/>
<Relationship Id="rId2" Type="http://schemas.openxmlformats.org/officeDocument/2006/relationships/extended-properties" Target="docProps/app.xml"/>
<Relationship Id="rId3" Type="http://schemas.openxmlformats.org/package/2006/relationships/metadata/core-properties" Target="docProps/core.xml"/>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Sm"/>
  </p:sldMasterIdLst>
  <p:sldIdLst>
    <p:sldId id="2561" r:id="rId1"/>
    <p:sldId id="2562" r:id="rId2"/>
    <p:sldId id="2563" r:id="rId3"/>
    <p:sldId id="2564" r:id="rId4"/>
    <p:sldId id="2565" r:id="rId5"/>
    <p:sldId id="2566" r:id="rId6"/>
    <p:sldId id="2567" r:id="rId7"/>
    <p:sldId id="2568" r:id="rId8"/>
  </p:sldIdLst>
  <p:sldSz cx="7556500" cy="10693400" type="custom"/>
  <p:notesSz cx="6858000" cy="9144000"/>
  <p:embeddedFontLst>
</p:embeddedFontLst>
</p:presentation>
</file>

<file path=ppt/_rels/presentation.xml.rels><?xml version="1.0" encoding="UTF-8" standalone="yes"?>
<Relationships xmlns="http://schemas.openxmlformats.org/package/2006/relationships">
<Relationship Id="rIdTh" Type="http://schemas.openxmlformats.org/officeDocument/2006/relationships/theme" Target="theme/theme1.xml"/>
<Relationship Id="rIdSm" Type="http://schemas.openxmlformats.org/officeDocument/2006/relationships/slideMaster" Target="slideMasters/slideMaster1.xml"/>
<Relationship Id="rId1" Type="http://schemas.openxmlformats.org/officeDocument/2006/relationships/slide" Target="slides/slide1.xml"/>
<Relationship Id="rId2" Type="http://schemas.openxmlformats.org/officeDocument/2006/relationships/slide" Target="slides/slide2.xml"/>
<Relationship Id="rId3" Type="http://schemas.openxmlformats.org/officeDocument/2006/relationships/slide" Target="slides/slide3.xml"/>
<Relationship Id="rId4" Type="http://schemas.openxmlformats.org/officeDocument/2006/relationships/slide" Target="slides/slide4.xml"/>
<Relationship Id="rId5" Type="http://schemas.openxmlformats.org/officeDocument/2006/relationships/slide" Target="slides/slide5.xml"/>
<Relationship Id="rId6" Type="http://schemas.openxmlformats.org/officeDocument/2006/relationships/slide" Target="slides/slide6.xml"/>
<Relationship Id="rId7" Type="http://schemas.openxmlformats.org/officeDocument/2006/relationships/slide" Target="slides/slide7.xml"/>
<Relationship Id="rId8" Type="http://schemas.openxmlformats.org/officeDocument/2006/relationships/slide" Target="slides/slide8.xml"/>
</Relationships>

</file>

<file path=ppt/slideLayouts/_rels/slideLayout1.xml.rels><?xml version="1.0" encoding="UTF-8" standalone="yes"?>
<Relationships xmlns="http://schemas.openxmlformats.org/package/2006/relationships">
<Relationship Id="rIdSm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Th" Type="http://schemas.openxmlformats.org/officeDocument/2006/relationships/theme" Target="../theme/theme1.xml"/>
<Relationship Id="rIdSl" Type="http://schemas.openxmlformats.org/officeDocument/2006/relationships/slideLayout" Target="../slideLayouts/slideLayout1.xml"/>
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Sl"/>
  </p:sldLayoutIdLst>
</p:sldMaster>
</file>

<file path=ppt/slides/_rels/slide1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</Relationships>

</file>

<file path=ppt/slides/_rels/slide2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</Relationships>

</file>

<file path=ppt/slides/_rels/slide3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 <Relationship Id="img_0_2_4.png" Type="http://schemas.openxmlformats.org/officeDocument/2006/relationships/image" Target="../media/img_0_2_4.png"/>
</Relationships>

</file>

<file path=ppt/slides/_rels/slide4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 <Relationship Id="img_0_3_2.png" Type="http://schemas.openxmlformats.org/officeDocument/2006/relationships/image" Target="../media/img_0_3_2.png"/>
</Relationships>

</file>

<file path=ppt/slides/_rels/slide5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</Relationships>

</file>

<file path=ppt/slides/_rels/slide6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</Relationships>

</file>

<file path=ppt/slides/_rels/slide7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</Relationships>

</file>

<file path=ppt/slides/_rels/slide8.xml.rels><?xml version="1.0" encoding="UTF-8" standalone="yes"?>
<Relationships xmlns="http://schemas.openxmlformats.org/package/2006/relationships">
<Relationship Id="rIdSl" Type="http://schemas.openxmlformats.org/officeDocument/2006/relationships/slideLayout" Target="../slideLayouts/slideLayout1.xml"/>
 <Relationship Id="img_0_0_0.png" Type="http://schemas.openxmlformats.org/officeDocument/2006/relationships/image" Target="../media/img_0_0_0.png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7669712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30522"/>
          </a:stretch>
        </p:blipFill>
        <p:spPr>
          <a:xfrm rot="0">
            <a:off x="0" y="0"/>
            <a:ext cx="7556500" cy="10693400"/>
          </a:xfrm>
          <a:prstGeom prst="rect">
            <a:avLst/>
          </a:prstGeom>
        </p:spPr>
      </p:pic>
      <p:sp>
        <p:nvSpPr>
          <p:cNvPr id="1389992178" name="Text">
    </p:cNvPr>
          <p:cNvSpPr>
            <a:spLocks noGrp="1"/>
          </p:cNvSpPr>
          <p:nvPr/>
        </p:nvSpPr>
        <p:spPr>
          <a:xfrm rot="0">
            <a:off x="520700" y="4025900"/>
            <a:ext cx="6540500" cy="381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22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2200">
                <a:latin typeface="DejaVu Sans"/>
                <a:ea typeface="DejaVu Sans"/>
                <a:cs typeface="DejaVu Sans"/>
              </a:rPr>
              <a:t>Normal &amp; Sketch</a:t>
            </a:r>
          </a:p>
        </p:txBody>
      </p:sp>
      <p:sp>
        <p:nvSpPr>
          <p:cNvPr id="1215074102" name="Text">
    </p:cNvPr>
          <p:cNvSpPr>
            <a:spLocks noGrp="1"/>
          </p:cNvSpPr>
          <p:nvPr/>
        </p:nvSpPr>
        <p:spPr>
          <a:xfrm rot="0">
            <a:off x="520700" y="4432300"/>
            <a:ext cx="6540500" cy="2540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21 Sep 2025 09:06:27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2745108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-1070000"/>
          </a:stretch>
        </p:blipFill>
        <p:spPr>
          <a:xfrm rot="0">
            <a:off x="0" y="0"/>
            <a:ext cx="7556500" cy="635000"/>
          </a:xfrm>
          <a:prstGeom prst="rect">
            <a:avLst/>
          </a:prstGeom>
        </p:spPr>
      </p:pic>
      <p:sp>
        <p:nvSpPr>
          <p:cNvPr id="181803612" name="Text">
    </p:cNvPr>
          <p:cNvSpPr>
            <a:spLocks noGrp="1"/>
          </p:cNvSpPr>
          <p:nvPr/>
        </p:nvSpPr>
        <p:spPr>
          <a:xfrm rot="0">
            <a:off x="508000" y="1143000"/>
            <a:ext cx="6540500" cy="19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2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</a:p>
        </p:txBody>
      </p:sp>
      <p:sp>
        <p:nvSpPr>
          <p:cNvPr id="1614444137" name="Text">
    </p:cNvPr>
          <p:cNvSpPr>
            <a:spLocks noGrp="1"/>
          </p:cNvSpPr>
          <p:nvPr/>
        </p:nvSpPr>
        <p:spPr>
          <a:xfrm rot="0">
            <a:off x="508000" y="762000"/>
            <a:ext cx="65405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20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2000">
                <a:latin typeface="DejaVu Sans"/>
                <a:ea typeface="DejaVu Sans"/>
                <a:cs typeface="DejaVu Sans"/>
              </a:rPr>
              <a:t>Purpose</a:t>
            </a:r>
          </a:p>
        </p:txBody>
      </p:sp>
      <p:sp>
        <p:nvSpPr>
          <p:cNvPr id="2117762196" name="Text">
    </p:cNvPr>
          <p:cNvSpPr>
            <a:spLocks noGrp="1"/>
          </p:cNvSpPr>
          <p:nvPr/>
        </p:nvSpPr>
        <p:spPr>
          <a:xfrm rot="0">
            <a:off x="508000" y="10058400"/>
            <a:ext cx="51308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Normal &amp; Sketch</a:t>
            </a:r>
          </a:p>
        </p:txBody>
      </p:sp>
      <p:sp>
        <p:nvSpPr>
          <p:cNvPr id="1375947098" name="Text">
    </p:cNvPr>
          <p:cNvSpPr>
            <a:spLocks noGrp="1"/>
          </p:cNvSpPr>
          <p:nvPr/>
        </p:nvSpPr>
        <p:spPr>
          <a:xfrm rot="0">
            <a:off x="5638800" y="10058400"/>
            <a:ext cx="10287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r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2</a:t>
            </a:r>
          </a:p>
        </p:txBody>
      </p:sp>
      <p:sp>
        <p:nvSpPr>
          <p:cNvPr id="1104879023" name="Text">
    </p:cNvPr>
          <p:cNvSpPr>
            <a:spLocks noGrp="1"/>
          </p:cNvSpPr>
          <p:nvPr/>
        </p:nvSpPr>
        <p:spPr>
          <a:xfrm rot="0">
            <a:off x="6667500" y="10058400"/>
            <a:ext cx="3810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 / 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370669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-1070000"/>
          </a:stretch>
        </p:blipFill>
        <p:spPr>
          <a:xfrm rot="0">
            <a:off x="0" y="0"/>
            <a:ext cx="7556500" cy="635000"/>
          </a:xfrm>
          <a:prstGeom prst="rect">
            <a:avLst/>
          </a:prstGeom>
        </p:spPr>
      </p:pic>
      <p:sp>
        <p:nvSpPr>
          <p:cNvPr id="1757261244" name="Text">
    </p:cNvPr>
          <p:cNvSpPr>
            <a:spLocks noGrp="1"/>
          </p:cNvSpPr>
          <p:nvPr/>
        </p:nvSpPr>
        <p:spPr>
          <a:xfrm rot="0">
            <a:off x="508000" y="762000"/>
            <a:ext cx="65405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20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2000">
                <a:latin typeface="DejaVu Sans"/>
                <a:ea typeface="DejaVu Sans"/>
                <a:cs typeface="DejaVu Sans"/>
              </a:rPr>
              <a:t>Views</a:t>
            </a:r>
          </a:p>
        </p:txBody>
      </p:sp>
      <p:sp>
        <p:nvSpPr>
          <p:cNvPr id="1527191548" name="Text">
    </p:cNvPr>
          <p:cNvSpPr>
            <a:spLocks noGrp="1"/>
          </p:cNvSpPr>
          <p:nvPr/>
        </p:nvSpPr>
        <p:spPr>
          <a:xfrm rot="0">
            <a:off x="508000" y="1270000"/>
            <a:ext cx="6540500" cy="2413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6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600">
                <a:latin typeface="DejaVu Sans"/>
                <a:ea typeface="DejaVu Sans"/>
                <a:cs typeface="DejaVu Sans"/>
              </a:rPr>
              <a:t>Capbility Model</a:t>
            </a:r>
          </a:p>
        </p:txBody>
      </p:sp>
      <p:sp>
        <p:nvSpPr>
          <p:cNvPr id="1995710164" name="Text">
    </p:cNvPr>
          <p:cNvSpPr>
            <a:spLocks noGrp="1"/>
          </p:cNvSpPr>
          <p:nvPr/>
        </p:nvSpPr>
        <p:spPr>
          <a:xfrm rot="0">
            <a:off x="508000" y="1511300"/>
            <a:ext cx="6540500" cy="190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200" i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200">
                <a:latin typeface="DejaVu Sans"/>
                <a:ea typeface="DejaVu Sans"/>
                <a:cs typeface="DejaVu Sans"/>
              </a:rPr>
              <a:t>No viewpoint</a:t>
            </a:r>
          </a:p>
        </p:txBody>
      </p:sp>
      <p:pic>
        <p:nvPicPr>
          <p:cNvPr id="48457928" name="Picture">
    </p:cNvPr>
          <p:cNvPicPr>
            <a:picLocks noChangeAspect="1"/>
          </p:cNvPicPr>
          <p:nvPr/>
        </p:nvPicPr>
        <p:blipFill>
          <a:blip r:embed="img_0_2_4.png"/>
          <a:srcRect/>
          <a:stretch>
            <a:fillRect l="0" t="0" r="388" b="0"/>
          </a:stretch>
        </p:blipFill>
        <p:spPr>
          <a:xfrm rot="0">
            <a:off x="508000" y="1765300"/>
            <a:ext cx="6540500" cy="2463800"/>
          </a:xfrm>
          <a:prstGeom prst="rect">
            <a:avLst/>
          </a:prstGeom>
        </p:spPr>
      </p:pic>
      <p:sp>
        <p:nvSpPr>
          <p:cNvPr id="1492845209" name="Text">
    </p:cNvPr>
          <p:cNvSpPr>
            <a:spLocks noGrp="1"/>
          </p:cNvSpPr>
          <p:nvPr/>
        </p:nvSpPr>
        <p:spPr>
          <a:xfrm rot="0">
            <a:off x="508000" y="4229100"/>
            <a:ext cx="6527800" cy="4445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4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400">
                <a:latin typeface="DejaVu Sans"/>
                <a:ea typeface="DejaVu Sans"/>
                <a:cs typeface="DejaVu Sans"/>
              </a:rPr>
              <a:t>Elements</a:t>
            </a:r>
          </a:p>
        </p:txBody>
      </p:sp>
      <p:sp>
        <p:nvSpPr>
          <p:cNvPr id="238007788" name="Text">
    </p:cNvPr>
          <p:cNvSpPr>
            <a:spLocks noGrp="1"/>
          </p:cNvSpPr>
          <p:nvPr/>
        </p:nvSpPr>
        <p:spPr>
          <a:xfrm rot="0">
            <a:off x="508000" y="4711700"/>
            <a:ext cx="32639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Element</a:t>
            </a:r>
          </a:p>
        </p:txBody>
      </p:sp>
      <p:sp>
        <p:nvSpPr>
          <p:cNvPr id="508321640" name="Text">
    </p:cNvPr>
          <p:cNvSpPr>
            <a:spLocks noGrp="1"/>
          </p:cNvSpPr>
          <p:nvPr/>
        </p:nvSpPr>
        <p:spPr>
          <a:xfrm rot="0">
            <a:off x="3771900" y="4711700"/>
            <a:ext cx="32639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654492077" name="Text">
    </p:cNvPr>
          <p:cNvSpPr>
            <a:spLocks noGrp="1"/>
          </p:cNvSpPr>
          <p:nvPr/>
        </p:nvSpPr>
        <p:spPr>
          <a:xfrm rot="0">
            <a:off x="508000" y="49149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Core Capability</a:t>
            </a:r>
          </a:p>
        </p:txBody>
      </p:sp>
      <p:sp>
        <p:nvSpPr>
          <p:cNvPr id="661516318" name="Text">
    </p:cNvPr>
          <p:cNvSpPr>
            <a:spLocks noGrp="1"/>
          </p:cNvSpPr>
          <p:nvPr/>
        </p:nvSpPr>
        <p:spPr>
          <a:xfrm rot="0">
            <a:off x="3771900" y="49149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1411293642" name="Text">
    </p:cNvPr>
          <p:cNvSpPr>
            <a:spLocks noGrp="1"/>
          </p:cNvSpPr>
          <p:nvPr/>
        </p:nvSpPr>
        <p:spPr>
          <a:xfrm rot="0">
            <a:off x="508000" y="51181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Strategy Capability</a:t>
            </a:r>
          </a:p>
        </p:txBody>
      </p:sp>
      <p:sp>
        <p:nvSpPr>
          <p:cNvPr id="676664126" name="Text">
    </p:cNvPr>
          <p:cNvSpPr>
            <a:spLocks noGrp="1"/>
          </p:cNvSpPr>
          <p:nvPr/>
        </p:nvSpPr>
        <p:spPr>
          <a:xfrm rot="0">
            <a:off x="3771900" y="51181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434876464" name="Text">
    </p:cNvPr>
          <p:cNvSpPr>
            <a:spLocks noGrp="1"/>
          </p:cNvSpPr>
          <p:nvPr/>
        </p:nvSpPr>
        <p:spPr>
          <a:xfrm rot="0">
            <a:off x="508000" y="53213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Supporting Capability</a:t>
            </a:r>
          </a:p>
        </p:txBody>
      </p:sp>
      <p:sp>
        <p:nvSpPr>
          <p:cNvPr id="1364086291" name="Text">
    </p:cNvPr>
          <p:cNvSpPr>
            <a:spLocks noGrp="1"/>
          </p:cNvSpPr>
          <p:nvPr/>
        </p:nvSpPr>
        <p:spPr>
          <a:xfrm rot="0">
            <a:off x="3771900" y="53213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1887417601" name="Text">
    </p:cNvPr>
          <p:cNvSpPr>
            <a:spLocks noGrp="1"/>
          </p:cNvSpPr>
          <p:nvPr/>
        </p:nvSpPr>
        <p:spPr>
          <a:xfrm rot="0">
            <a:off x="508000" y="55245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Xiaoqi Company Capability Model</a:t>
            </a:r>
          </a:p>
        </p:txBody>
      </p:sp>
      <p:sp>
        <p:nvSpPr>
          <p:cNvPr id="1882424531" name="Text">
    </p:cNvPr>
          <p:cNvSpPr>
            <a:spLocks noGrp="1"/>
          </p:cNvSpPr>
          <p:nvPr/>
        </p:nvSpPr>
        <p:spPr>
          <a:xfrm rot="0">
            <a:off x="3771900" y="5524500"/>
            <a:ext cx="32639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882757845" name="Text">
    </p:cNvPr>
          <p:cNvSpPr>
            <a:spLocks noGrp="1"/>
          </p:cNvSpPr>
          <p:nvPr/>
        </p:nvSpPr>
        <p:spPr>
          <a:xfrm rot="0">
            <a:off x="508000" y="10058400"/>
            <a:ext cx="51308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Normal &amp; Sketch</a:t>
            </a:r>
          </a:p>
        </p:txBody>
      </p:sp>
      <p:sp>
        <p:nvSpPr>
          <p:cNvPr id="385887875" name="Text">
    </p:cNvPr>
          <p:cNvSpPr>
            <a:spLocks noGrp="1"/>
          </p:cNvSpPr>
          <p:nvPr/>
        </p:nvSpPr>
        <p:spPr>
          <a:xfrm rot="0">
            <a:off x="5638800" y="10058400"/>
            <a:ext cx="10287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r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3</a:t>
            </a:r>
          </a:p>
        </p:txBody>
      </p:sp>
      <p:sp>
        <p:nvSpPr>
          <p:cNvPr id="642340008" name="Text">
    </p:cNvPr>
          <p:cNvSpPr>
            <a:spLocks noGrp="1"/>
          </p:cNvSpPr>
          <p:nvPr/>
        </p:nvSpPr>
        <p:spPr>
          <a:xfrm rot="0">
            <a:off x="6667500" y="10058400"/>
            <a:ext cx="3810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 / 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3925052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-1070000"/>
          </a:stretch>
        </p:blipFill>
        <p:spPr>
          <a:xfrm rot="0">
            <a:off x="0" y="0"/>
            <a:ext cx="7556500" cy="635000"/>
          </a:xfrm>
          <a:prstGeom prst="rect">
            <a:avLst/>
          </a:prstGeom>
        </p:spPr>
      </p:pic>
      <p:sp>
        <p:nvSpPr>
          <p:cNvPr id="450512607" name="Text">
    </p:cNvPr>
          <p:cNvSpPr>
            <a:spLocks noGrp="1"/>
          </p:cNvSpPr>
          <p:nvPr/>
        </p:nvSpPr>
        <p:spPr>
          <a:xfrm rot="0">
            <a:off x="508000" y="762000"/>
            <a:ext cx="6540500" cy="2413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6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600">
                <a:latin typeface="DejaVu Sans"/>
                <a:ea typeface="DejaVu Sans"/>
                <a:cs typeface="DejaVu Sans"/>
              </a:rPr>
              <a:t>Processing Sketch</a:t>
            </a:r>
          </a:p>
        </p:txBody>
      </p:sp>
      <p:pic>
        <p:nvPicPr>
          <p:cNvPr id="2083356240" name="Picture">
    </p:cNvPr>
          <p:cNvPicPr>
            <a:picLocks noChangeAspect="1"/>
          </p:cNvPicPr>
          <p:nvPr/>
        </p:nvPicPr>
        <p:blipFill>
          <a:blip r:embed="img_0_3_2.png"/>
          <a:srcRect/>
          <a:stretch>
            <a:fillRect l="0" t="0" r="194" b="0"/>
          </a:stretch>
        </p:blipFill>
        <p:spPr>
          <a:xfrm rot="0">
            <a:off x="508000" y="1003300"/>
            <a:ext cx="6540500" cy="5219700"/>
          </a:xfrm>
          <a:prstGeom prst="rect">
            <a:avLst/>
          </a:prstGeom>
        </p:spPr>
      </p:pic>
      <p:sp>
        <p:nvSpPr>
          <p:cNvPr id="973104667" name="Text">
    </p:cNvPr>
          <p:cNvSpPr>
            <a:spLocks noGrp="1"/>
          </p:cNvSpPr>
          <p:nvPr/>
        </p:nvSpPr>
        <p:spPr>
          <a:xfrm rot="0">
            <a:off x="508000" y="6223000"/>
            <a:ext cx="6540500" cy="444500"/>
          </a:xfrm>
          <a:prstGeom prst="rect">
            <a:avLst/>
          </a:prstGeom>
        </p:spPr>
        <p:txBody>
          <a:bodyPr wrap="square" lIns="0" tIns="0" rIns="0" bIns="0" rtlCol="0" anchor="b"/>
          <a:lstStyle/>
          <a:p>
            <a:pPr algn="l">
              <a:lnSpc>
                <a:spcPct val="100%"/>
              </a:lnSpc>
              <a:defRPr sz="14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400">
                <a:latin typeface="DejaVu Sans"/>
                <a:ea typeface="DejaVu Sans"/>
                <a:cs typeface="DejaVu Sans"/>
              </a:rPr>
              <a:t>Documentation</a:t>
            </a:r>
          </a:p>
        </p:txBody>
      </p:sp>
      <p:sp>
        <p:nvSpPr>
          <p:cNvPr id="1914970938" name="Text">
    </p:cNvPr>
          <p:cNvSpPr>
            <a:spLocks noGrp="1"/>
          </p:cNvSpPr>
          <p:nvPr/>
        </p:nvSpPr>
        <p:spPr>
          <a:xfrm rot="0">
            <a:off x="508000" y="6705600"/>
            <a:ext cx="6540500" cy="203200"/>
          </a:xfrm>
          <a:prstGeom prst="rect">
            <a:avLst/>
          </a:prstGeom>
        </p:spPr>
        <p:txBody>
          <a:bodyPr wrap="square" lIns="63500" tIns="0" rIns="0" bIns="0" rtlCol="0" anchor="t"/>
          <a:lstStyle/>
          <a:p>
            <a:pPr algn="l">
              <a:lnSpc>
                <a:spcPct val="100%"/>
              </a:lnSpc>
              <a:defRPr sz="12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200">
                <a:latin typeface="DejaVu Sans"/>
                <a:ea typeface="DejaVu Sans"/>
                <a:cs typeface="DejaVu Sans"/>
              </a:rPr>
              <a:t>Sketch Sample</a:t>
            </a:r>
          </a:p>
        </p:txBody>
      </p:sp>
      <p:sp>
        <p:nvSpPr>
          <p:cNvPr id="512325665" name="Text">
    </p:cNvPr>
          <p:cNvSpPr>
            <a:spLocks noGrp="1"/>
          </p:cNvSpPr>
          <p:nvPr/>
        </p:nvSpPr>
        <p:spPr>
          <a:xfrm rot="0">
            <a:off x="508000" y="10058400"/>
            <a:ext cx="51308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Normal &amp; Sketch</a:t>
            </a:r>
          </a:p>
        </p:txBody>
      </p:sp>
      <p:sp>
        <p:nvSpPr>
          <p:cNvPr id="601858547" name="Text">
    </p:cNvPr>
          <p:cNvSpPr>
            <a:spLocks noGrp="1"/>
          </p:cNvSpPr>
          <p:nvPr/>
        </p:nvSpPr>
        <p:spPr>
          <a:xfrm rot="0">
            <a:off x="5638800" y="10058400"/>
            <a:ext cx="10287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r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4</a:t>
            </a:r>
          </a:p>
        </p:txBody>
      </p:sp>
      <p:sp>
        <p:nvSpPr>
          <p:cNvPr id="505781358" name="Text">
    </p:cNvPr>
          <p:cNvSpPr>
            <a:spLocks noGrp="1"/>
          </p:cNvSpPr>
          <p:nvPr/>
        </p:nvSpPr>
        <p:spPr>
          <a:xfrm rot="0">
            <a:off x="6667500" y="10058400"/>
            <a:ext cx="3810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 / 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7200293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-1070000"/>
          </a:stretch>
        </p:blipFill>
        <p:spPr>
          <a:xfrm rot="0">
            <a:off x="0" y="0"/>
            <a:ext cx="7556500" cy="635000"/>
          </a:xfrm>
          <a:prstGeom prst="rect">
            <a:avLst/>
          </a:prstGeom>
        </p:spPr>
      </p:pic>
      <p:sp>
        <p:nvSpPr>
          <p:cNvPr id="441854765" name="Text">
    </p:cNvPr>
          <p:cNvSpPr>
            <a:spLocks noGrp="1"/>
          </p:cNvSpPr>
          <p:nvPr/>
        </p:nvSpPr>
        <p:spPr>
          <a:xfrm rot="0">
            <a:off x="508000" y="1257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Core Capability</a:t>
            </a:r>
          </a:p>
        </p:txBody>
      </p:sp>
      <p:sp>
        <p:nvSpPr>
          <p:cNvPr id="1228469934" name="Text">
    </p:cNvPr>
          <p:cNvSpPr>
            <a:spLocks noGrp="1"/>
          </p:cNvSpPr>
          <p:nvPr/>
        </p:nvSpPr>
        <p:spPr>
          <a:xfrm rot="0">
            <a:off x="508000" y="1485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480630744" name="Text">
    </p:cNvPr>
          <p:cNvSpPr>
            <a:spLocks noGrp="1"/>
          </p:cNvSpPr>
          <p:nvPr/>
        </p:nvSpPr>
        <p:spPr>
          <a:xfrm rot="0">
            <a:off x="2413000" y="1485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1118518662" name="Text">
    </p:cNvPr>
          <p:cNvSpPr>
            <a:spLocks noGrp="1"/>
          </p:cNvSpPr>
          <p:nvPr/>
        </p:nvSpPr>
        <p:spPr>
          <a:xfrm rot="0">
            <a:off x="508000" y="1892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Strategy Capability</a:t>
            </a:r>
          </a:p>
        </p:txBody>
      </p:sp>
      <p:sp>
        <p:nvSpPr>
          <p:cNvPr id="1771006397" name="Text">
    </p:cNvPr>
          <p:cNvSpPr>
            <a:spLocks noGrp="1"/>
          </p:cNvSpPr>
          <p:nvPr/>
        </p:nvSpPr>
        <p:spPr>
          <a:xfrm rot="0">
            <a:off x="508000" y="2120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728872356" name="Text">
    </p:cNvPr>
          <p:cNvSpPr>
            <a:spLocks noGrp="1"/>
          </p:cNvSpPr>
          <p:nvPr/>
        </p:nvSpPr>
        <p:spPr>
          <a:xfrm rot="0">
            <a:off x="2413000" y="2120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1428516746" name="Text">
    </p:cNvPr>
          <p:cNvSpPr>
            <a:spLocks noGrp="1"/>
          </p:cNvSpPr>
          <p:nvPr/>
        </p:nvSpPr>
        <p:spPr>
          <a:xfrm rot="0">
            <a:off x="508000" y="2527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Supporting Capability</a:t>
            </a:r>
          </a:p>
        </p:txBody>
      </p:sp>
      <p:sp>
        <p:nvSpPr>
          <p:cNvPr id="1324957605" name="Text">
    </p:cNvPr>
          <p:cNvSpPr>
            <a:spLocks noGrp="1"/>
          </p:cNvSpPr>
          <p:nvPr/>
        </p:nvSpPr>
        <p:spPr>
          <a:xfrm rot="0">
            <a:off x="508000" y="2755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554609478" name="Text">
    </p:cNvPr>
          <p:cNvSpPr>
            <a:spLocks noGrp="1"/>
          </p:cNvSpPr>
          <p:nvPr/>
        </p:nvSpPr>
        <p:spPr>
          <a:xfrm rot="0">
            <a:off x="2413000" y="2755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1490862120" name="Text">
    </p:cNvPr>
          <p:cNvSpPr>
            <a:spLocks noGrp="1"/>
          </p:cNvSpPr>
          <p:nvPr/>
        </p:nvSpPr>
        <p:spPr>
          <a:xfrm rot="0">
            <a:off x="508000" y="3162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Xiaoqi Company Capability Model</a:t>
            </a:r>
          </a:p>
        </p:txBody>
      </p:sp>
      <p:sp>
        <p:nvSpPr>
          <p:cNvPr id="645639558" name="Text">
    </p:cNvPr>
          <p:cNvSpPr>
            <a:spLocks noGrp="1"/>
          </p:cNvSpPr>
          <p:nvPr/>
        </p:nvSpPr>
        <p:spPr>
          <a:xfrm rot="0">
            <a:off x="508000" y="3390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569944827" name="Text">
    </p:cNvPr>
          <p:cNvSpPr>
            <a:spLocks noGrp="1"/>
          </p:cNvSpPr>
          <p:nvPr/>
        </p:nvSpPr>
        <p:spPr>
          <a:xfrm rot="0">
            <a:off x="2413000" y="3390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Capability</a:t>
            </a:r>
          </a:p>
        </p:txBody>
      </p:sp>
      <p:sp>
        <p:nvSpPr>
          <p:cNvPr id="913107143" name="Text">
    </p:cNvPr>
          <p:cNvSpPr>
            <a:spLocks noGrp="1"/>
          </p:cNvSpPr>
          <p:nvPr/>
        </p:nvSpPr>
        <p:spPr>
          <a:xfrm rot="0">
            <a:off x="508000" y="762000"/>
            <a:ext cx="65405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20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2000">
                <a:latin typeface="DejaVu Sans"/>
                <a:ea typeface="DejaVu Sans"/>
                <a:cs typeface="DejaVu Sans"/>
              </a:rPr>
              <a:t>Strategy Layer</a:t>
            </a:r>
          </a:p>
        </p:txBody>
      </p:sp>
      <p:sp>
        <p:nvSpPr>
          <p:cNvPr id="135242658" name="Text">
    </p:cNvPr>
          <p:cNvSpPr>
            <a:spLocks noGrp="1"/>
          </p:cNvSpPr>
          <p:nvPr/>
        </p:nvSpPr>
        <p:spPr>
          <a:xfrm rot="0">
            <a:off x="508000" y="10058400"/>
            <a:ext cx="51308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Normal &amp; Sketch</a:t>
            </a:r>
          </a:p>
        </p:txBody>
      </p:sp>
      <p:sp>
        <p:nvSpPr>
          <p:cNvPr id="1935878328" name="Text">
    </p:cNvPr>
          <p:cNvSpPr>
            <a:spLocks noGrp="1"/>
          </p:cNvSpPr>
          <p:nvPr/>
        </p:nvSpPr>
        <p:spPr>
          <a:xfrm rot="0">
            <a:off x="5638800" y="10058400"/>
            <a:ext cx="10287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r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5</a:t>
            </a:r>
          </a:p>
        </p:txBody>
      </p:sp>
      <p:sp>
        <p:nvSpPr>
          <p:cNvPr id="1752821349" name="Text">
    </p:cNvPr>
          <p:cNvSpPr>
            <a:spLocks noGrp="1"/>
          </p:cNvSpPr>
          <p:nvPr/>
        </p:nvSpPr>
        <p:spPr>
          <a:xfrm rot="0">
            <a:off x="6667500" y="10058400"/>
            <a:ext cx="3810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 / 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48161817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-1070000"/>
          </a:stretch>
        </p:blipFill>
        <p:spPr>
          <a:xfrm rot="0">
            <a:off x="0" y="0"/>
            <a:ext cx="7556500" cy="635000"/>
          </a:xfrm>
          <a:prstGeom prst="rect">
            <a:avLst/>
          </a:prstGeom>
        </p:spPr>
      </p:pic>
      <p:sp>
        <p:nvSpPr>
          <p:cNvPr id="388561757" name="Text">
    </p:cNvPr>
          <p:cNvSpPr>
            <a:spLocks noGrp="1"/>
          </p:cNvSpPr>
          <p:nvPr/>
        </p:nvSpPr>
        <p:spPr>
          <a:xfrm rot="0">
            <a:off x="508000" y="1257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App 001</a:t>
            </a:r>
          </a:p>
        </p:txBody>
      </p:sp>
      <p:sp>
        <p:nvSpPr>
          <p:cNvPr id="1188238255" name="Text">
    </p:cNvPr>
          <p:cNvSpPr>
            <a:spLocks noGrp="1"/>
          </p:cNvSpPr>
          <p:nvPr/>
        </p:nvSpPr>
        <p:spPr>
          <a:xfrm rot="0">
            <a:off x="508000" y="1485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867482212" name="Text">
    </p:cNvPr>
          <p:cNvSpPr>
            <a:spLocks noGrp="1"/>
          </p:cNvSpPr>
          <p:nvPr/>
        </p:nvSpPr>
        <p:spPr>
          <a:xfrm rot="0">
            <a:off x="2413000" y="1485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Application Component</a:t>
            </a:r>
          </a:p>
        </p:txBody>
      </p:sp>
      <p:sp>
        <p:nvSpPr>
          <p:cNvPr id="1509454402" name="Text">
    </p:cNvPr>
          <p:cNvSpPr>
            <a:spLocks noGrp="1"/>
          </p:cNvSpPr>
          <p:nvPr/>
        </p:nvSpPr>
        <p:spPr>
          <a:xfrm rot="0">
            <a:off x="508000" y="1892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App 002</a:t>
            </a:r>
          </a:p>
        </p:txBody>
      </p:sp>
      <p:sp>
        <p:nvSpPr>
          <p:cNvPr id="165320755" name="Text">
    </p:cNvPr>
          <p:cNvSpPr>
            <a:spLocks noGrp="1"/>
          </p:cNvSpPr>
          <p:nvPr/>
        </p:nvSpPr>
        <p:spPr>
          <a:xfrm rot="0">
            <a:off x="508000" y="2120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464511692" name="Text">
    </p:cNvPr>
          <p:cNvSpPr>
            <a:spLocks noGrp="1"/>
          </p:cNvSpPr>
          <p:nvPr/>
        </p:nvSpPr>
        <p:spPr>
          <a:xfrm rot="0">
            <a:off x="2413000" y="2120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Application Component</a:t>
            </a:r>
          </a:p>
        </p:txBody>
      </p:sp>
      <p:sp>
        <p:nvSpPr>
          <p:cNvPr id="1102797787" name="Text">
    </p:cNvPr>
          <p:cNvSpPr>
            <a:spLocks noGrp="1"/>
          </p:cNvSpPr>
          <p:nvPr/>
        </p:nvSpPr>
        <p:spPr>
          <a:xfrm rot="0">
            <a:off x="508000" y="762000"/>
            <a:ext cx="65405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20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2000">
                <a:latin typeface="DejaVu Sans"/>
                <a:ea typeface="DejaVu Sans"/>
                <a:cs typeface="DejaVu Sans"/>
              </a:rPr>
              <a:t>Application Layer</a:t>
            </a:r>
          </a:p>
        </p:txBody>
      </p:sp>
      <p:sp>
        <p:nvSpPr>
          <p:cNvPr id="1531661260" name="Text">
    </p:cNvPr>
          <p:cNvSpPr>
            <a:spLocks noGrp="1"/>
          </p:cNvSpPr>
          <p:nvPr/>
        </p:nvSpPr>
        <p:spPr>
          <a:xfrm rot="0">
            <a:off x="508000" y="10058400"/>
            <a:ext cx="51308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Normal &amp; Sketch</a:t>
            </a:r>
          </a:p>
        </p:txBody>
      </p:sp>
      <p:sp>
        <p:nvSpPr>
          <p:cNvPr id="101538710" name="Text">
    </p:cNvPr>
          <p:cNvSpPr>
            <a:spLocks noGrp="1"/>
          </p:cNvSpPr>
          <p:nvPr/>
        </p:nvSpPr>
        <p:spPr>
          <a:xfrm rot="0">
            <a:off x="5638800" y="10058400"/>
            <a:ext cx="10287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r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6</a:t>
            </a:r>
          </a:p>
        </p:txBody>
      </p:sp>
      <p:sp>
        <p:nvSpPr>
          <p:cNvPr id="1549341494" name="Text">
    </p:cNvPr>
          <p:cNvSpPr>
            <a:spLocks noGrp="1"/>
          </p:cNvSpPr>
          <p:nvPr/>
        </p:nvSpPr>
        <p:spPr>
          <a:xfrm rot="0">
            <a:off x="6667500" y="10058400"/>
            <a:ext cx="3810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 / 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1404462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-1070000"/>
          </a:stretch>
        </p:blipFill>
        <p:spPr>
          <a:xfrm rot="0">
            <a:off x="0" y="0"/>
            <a:ext cx="7556500" cy="635000"/>
          </a:xfrm>
          <a:prstGeom prst="rect">
            <a:avLst/>
          </a:prstGeom>
        </p:spPr>
      </p:pic>
      <p:sp>
        <p:nvSpPr>
          <p:cNvPr id="69450583" name="Text">
    </p:cNvPr>
          <p:cNvSpPr>
            <a:spLocks noGrp="1"/>
          </p:cNvSpPr>
          <p:nvPr/>
        </p:nvSpPr>
        <p:spPr>
          <a:xfrm rot="0">
            <a:off x="508000" y="1257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AWS Cloud</a:t>
            </a:r>
          </a:p>
        </p:txBody>
      </p:sp>
      <p:sp>
        <p:nvSpPr>
          <p:cNvPr id="526212491" name="Text">
    </p:cNvPr>
          <p:cNvSpPr>
            <a:spLocks noGrp="1"/>
          </p:cNvSpPr>
          <p:nvPr/>
        </p:nvSpPr>
        <p:spPr>
          <a:xfrm rot="0">
            <a:off x="508000" y="1485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508125319" name="Text">
    </p:cNvPr>
          <p:cNvSpPr>
            <a:spLocks noGrp="1"/>
          </p:cNvSpPr>
          <p:nvPr/>
        </p:nvSpPr>
        <p:spPr>
          <a:xfrm rot="0">
            <a:off x="2413000" y="1485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Communication Network</a:t>
            </a:r>
          </a:p>
        </p:txBody>
      </p:sp>
      <p:sp>
        <p:nvSpPr>
          <p:cNvPr id="1928616243" name="Text">
    </p:cNvPr>
          <p:cNvSpPr>
            <a:spLocks noGrp="1"/>
          </p:cNvSpPr>
          <p:nvPr/>
        </p:nvSpPr>
        <p:spPr>
          <a:xfrm rot="0">
            <a:off x="508000" y="1892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Azure Cloud</a:t>
            </a:r>
          </a:p>
        </p:txBody>
      </p:sp>
      <p:sp>
        <p:nvSpPr>
          <p:cNvPr id="1796517177" name="Text">
    </p:cNvPr>
          <p:cNvSpPr>
            <a:spLocks noGrp="1"/>
          </p:cNvSpPr>
          <p:nvPr/>
        </p:nvSpPr>
        <p:spPr>
          <a:xfrm rot="0">
            <a:off x="508000" y="2120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508564693" name="Text">
    </p:cNvPr>
          <p:cNvSpPr>
            <a:spLocks noGrp="1"/>
          </p:cNvSpPr>
          <p:nvPr/>
        </p:nvSpPr>
        <p:spPr>
          <a:xfrm rot="0">
            <a:off x="2413000" y="2120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Communication Network</a:t>
            </a:r>
          </a:p>
        </p:txBody>
      </p:sp>
      <p:sp>
        <p:nvSpPr>
          <p:cNvPr id="1263014592" name="Text">
    </p:cNvPr>
          <p:cNvSpPr>
            <a:spLocks noGrp="1"/>
          </p:cNvSpPr>
          <p:nvPr/>
        </p:nvSpPr>
        <p:spPr>
          <a:xfrm rot="0">
            <a:off x="508000" y="762000"/>
            <a:ext cx="65405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20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2000">
                <a:latin typeface="DejaVu Sans"/>
                <a:ea typeface="DejaVu Sans"/>
                <a:cs typeface="DejaVu Sans"/>
              </a:rPr>
              <a:t>Technology &amp; Physical Layer</a:t>
            </a:r>
          </a:p>
        </p:txBody>
      </p:sp>
      <p:sp>
        <p:nvSpPr>
          <p:cNvPr id="463861595" name="Text">
    </p:cNvPr>
          <p:cNvSpPr>
            <a:spLocks noGrp="1"/>
          </p:cNvSpPr>
          <p:nvPr/>
        </p:nvSpPr>
        <p:spPr>
          <a:xfrm rot="0">
            <a:off x="508000" y="10058400"/>
            <a:ext cx="51308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Normal &amp; Sketch</a:t>
            </a:r>
          </a:p>
        </p:txBody>
      </p:sp>
      <p:sp>
        <p:nvSpPr>
          <p:cNvPr id="1427565683" name="Text">
    </p:cNvPr>
          <p:cNvSpPr>
            <a:spLocks noGrp="1"/>
          </p:cNvSpPr>
          <p:nvPr/>
        </p:nvSpPr>
        <p:spPr>
          <a:xfrm rot="0">
            <a:off x="5638800" y="10058400"/>
            <a:ext cx="10287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r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7</a:t>
            </a:r>
          </a:p>
        </p:txBody>
      </p:sp>
      <p:sp>
        <p:nvSpPr>
          <p:cNvPr id="332216493" name="Text">
    </p:cNvPr>
          <p:cNvSpPr>
            <a:spLocks noGrp="1"/>
          </p:cNvSpPr>
          <p:nvPr/>
        </p:nvSpPr>
        <p:spPr>
          <a:xfrm rot="0">
            <a:off x="6667500" y="10058400"/>
            <a:ext cx="3810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 / 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1337099" name="Picture">
    </p:cNvPr>
          <p:cNvPicPr>
            <a:picLocks noChangeAspect="1"/>
          </p:cNvPicPr>
          <p:nvPr/>
        </p:nvPicPr>
        <p:blipFill>
          <a:blip r:embed="img_0_0_0.png"/>
          <a:srcRect/>
          <a:stretch>
            <a:fillRect l="0" t="0" r="0" b="-1070000"/>
          </a:stretch>
        </p:blipFill>
        <p:spPr>
          <a:xfrm rot="0">
            <a:off x="0" y="0"/>
            <a:ext cx="7556500" cy="635000"/>
          </a:xfrm>
          <a:prstGeom prst="rect">
            <a:avLst/>
          </a:prstGeom>
        </p:spPr>
      </p:pic>
      <p:sp>
        <p:nvSpPr>
          <p:cNvPr id="1274985656" name="Text">
    </p:cNvPr>
          <p:cNvSpPr>
            <a:spLocks noGrp="1"/>
          </p:cNvSpPr>
          <p:nvPr/>
        </p:nvSpPr>
        <p:spPr>
          <a:xfrm rot="0">
            <a:off x="508000" y="12573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Composition relation</a:t>
            </a:r>
          </a:p>
        </p:txBody>
      </p:sp>
      <p:sp>
        <p:nvSpPr>
          <p:cNvPr id="1084975381" name="Text">
    </p:cNvPr>
          <p:cNvSpPr>
            <a:spLocks noGrp="1"/>
          </p:cNvSpPr>
          <p:nvPr/>
        </p:nvSpPr>
        <p:spPr>
          <a:xfrm rot="0">
            <a:off x="508000" y="1485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1954566516" name="Text">
    </p:cNvPr>
          <p:cNvSpPr>
            <a:spLocks noGrp="1"/>
          </p:cNvSpPr>
          <p:nvPr/>
        </p:nvSpPr>
        <p:spPr>
          <a:xfrm rot="0">
            <a:off x="2413000" y="1485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Composition relation</a:t>
            </a:r>
          </a:p>
        </p:txBody>
      </p:sp>
      <p:sp>
        <p:nvSpPr>
          <p:cNvPr id="379018979" name="Text">
    </p:cNvPr>
          <p:cNvSpPr>
            <a:spLocks noGrp="1"/>
          </p:cNvSpPr>
          <p:nvPr/>
        </p:nvSpPr>
        <p:spPr>
          <a:xfrm rot="0">
            <a:off x="2413000" y="16891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Xiaoqi Company Capability Model</a:t>
            </a:r>
          </a:p>
        </p:txBody>
      </p:sp>
      <p:sp>
        <p:nvSpPr>
          <p:cNvPr id="682769397" name="Text">
    </p:cNvPr>
          <p:cNvSpPr>
            <a:spLocks noGrp="1"/>
          </p:cNvSpPr>
          <p:nvPr/>
        </p:nvSpPr>
        <p:spPr>
          <a:xfrm rot="0">
            <a:off x="2413000" y="18923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Strategy Capability</a:t>
            </a:r>
          </a:p>
        </p:txBody>
      </p:sp>
      <p:sp>
        <p:nvSpPr>
          <p:cNvPr id="860494903" name="Text">
    </p:cNvPr>
          <p:cNvSpPr>
            <a:spLocks noGrp="1"/>
          </p:cNvSpPr>
          <p:nvPr/>
        </p:nvSpPr>
        <p:spPr>
          <a:xfrm rot="0">
            <a:off x="508000" y="16891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Source</a:t>
            </a:r>
          </a:p>
        </p:txBody>
      </p:sp>
      <p:sp>
        <p:nvSpPr>
          <p:cNvPr id="1161289947" name="Text">
    </p:cNvPr>
          <p:cNvSpPr>
            <a:spLocks noGrp="1"/>
          </p:cNvSpPr>
          <p:nvPr/>
        </p:nvSpPr>
        <p:spPr>
          <a:xfrm rot="0">
            <a:off x="508000" y="18923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Target</a:t>
            </a:r>
          </a:p>
        </p:txBody>
      </p:sp>
      <p:sp>
        <p:nvSpPr>
          <p:cNvPr id="1778110168" name="Text">
    </p:cNvPr>
          <p:cNvSpPr>
            <a:spLocks noGrp="1"/>
          </p:cNvSpPr>
          <p:nvPr/>
        </p:nvSpPr>
        <p:spPr>
          <a:xfrm rot="0">
            <a:off x="508000" y="22987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Composition relation</a:t>
            </a:r>
          </a:p>
        </p:txBody>
      </p:sp>
      <p:sp>
        <p:nvSpPr>
          <p:cNvPr id="1345269121" name="Text">
    </p:cNvPr>
          <p:cNvSpPr>
            <a:spLocks noGrp="1"/>
          </p:cNvSpPr>
          <p:nvPr/>
        </p:nvSpPr>
        <p:spPr>
          <a:xfrm rot="0">
            <a:off x="508000" y="25273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870787095" name="Text">
    </p:cNvPr>
          <p:cNvSpPr>
            <a:spLocks noGrp="1"/>
          </p:cNvSpPr>
          <p:nvPr/>
        </p:nvSpPr>
        <p:spPr>
          <a:xfrm rot="0">
            <a:off x="2413000" y="25273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Composition relation</a:t>
            </a:r>
          </a:p>
        </p:txBody>
      </p:sp>
      <p:sp>
        <p:nvSpPr>
          <p:cNvPr id="1227630472" name="Text">
    </p:cNvPr>
          <p:cNvSpPr>
            <a:spLocks noGrp="1"/>
          </p:cNvSpPr>
          <p:nvPr/>
        </p:nvSpPr>
        <p:spPr>
          <a:xfrm rot="0">
            <a:off x="2413000" y="27305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Xiaoqi Company Capability Model</a:t>
            </a:r>
          </a:p>
        </p:txBody>
      </p:sp>
      <p:sp>
        <p:nvSpPr>
          <p:cNvPr id="2123808123" name="Text">
    </p:cNvPr>
          <p:cNvSpPr>
            <a:spLocks noGrp="1"/>
          </p:cNvSpPr>
          <p:nvPr/>
        </p:nvSpPr>
        <p:spPr>
          <a:xfrm rot="0">
            <a:off x="2413000" y="29337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Supporting Capability</a:t>
            </a:r>
          </a:p>
        </p:txBody>
      </p:sp>
      <p:sp>
        <p:nvSpPr>
          <p:cNvPr id="1476183053" name="Text">
    </p:cNvPr>
          <p:cNvSpPr>
            <a:spLocks noGrp="1"/>
          </p:cNvSpPr>
          <p:nvPr/>
        </p:nvSpPr>
        <p:spPr>
          <a:xfrm rot="0">
            <a:off x="508000" y="27305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Source</a:t>
            </a:r>
          </a:p>
        </p:txBody>
      </p:sp>
      <p:sp>
        <p:nvSpPr>
          <p:cNvPr id="1565649269" name="Text">
    </p:cNvPr>
          <p:cNvSpPr>
            <a:spLocks noGrp="1"/>
          </p:cNvSpPr>
          <p:nvPr/>
        </p:nvSpPr>
        <p:spPr>
          <a:xfrm rot="0">
            <a:off x="508000" y="29337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Target</a:t>
            </a:r>
          </a:p>
        </p:txBody>
      </p:sp>
      <p:sp>
        <p:nvSpPr>
          <p:cNvPr id="1978238256" name="Text">
    </p:cNvPr>
          <p:cNvSpPr>
            <a:spLocks noGrp="1"/>
          </p:cNvSpPr>
          <p:nvPr/>
        </p:nvSpPr>
        <p:spPr>
          <a:xfrm rot="0">
            <a:off x="508000" y="3340100"/>
            <a:ext cx="6540500" cy="2032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13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300">
                <a:latin typeface="DejaVu Sans"/>
                <a:ea typeface="DejaVu Sans"/>
                <a:cs typeface="DejaVu Sans"/>
              </a:rPr>
              <a:t>Composition relation</a:t>
            </a:r>
          </a:p>
        </p:txBody>
      </p:sp>
      <p:sp>
        <p:nvSpPr>
          <p:cNvPr id="1054839699" name="Text">
    </p:cNvPr>
          <p:cNvSpPr>
            <a:spLocks noGrp="1"/>
          </p:cNvSpPr>
          <p:nvPr/>
        </p:nvSpPr>
        <p:spPr>
          <a:xfrm rot="0">
            <a:off x="508000" y="35687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Type</a:t>
            </a:r>
          </a:p>
        </p:txBody>
      </p:sp>
      <p:sp>
        <p:nvSpPr>
          <p:cNvPr id="254993641" name="Text">
    </p:cNvPr>
          <p:cNvSpPr>
            <a:spLocks noGrp="1"/>
          </p:cNvSpPr>
          <p:nvPr/>
        </p:nvSpPr>
        <p:spPr>
          <a:xfrm rot="0">
            <a:off x="2413000" y="35687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Composition relation</a:t>
            </a:r>
          </a:p>
        </p:txBody>
      </p:sp>
      <p:sp>
        <p:nvSpPr>
          <p:cNvPr id="1568325179" name="Text">
    </p:cNvPr>
          <p:cNvSpPr>
            <a:spLocks noGrp="1"/>
          </p:cNvSpPr>
          <p:nvPr/>
        </p:nvSpPr>
        <p:spPr>
          <a:xfrm rot="0">
            <a:off x="2413000" y="37719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Xiaoqi Company Capability Model</a:t>
            </a:r>
          </a:p>
        </p:txBody>
      </p:sp>
      <p:sp>
        <p:nvSpPr>
          <p:cNvPr id="1686335649" name="Text">
    </p:cNvPr>
          <p:cNvSpPr>
            <a:spLocks noGrp="1"/>
          </p:cNvSpPr>
          <p:nvPr/>
        </p:nvSpPr>
        <p:spPr>
          <a:xfrm rot="0">
            <a:off x="2413000" y="3975100"/>
            <a:ext cx="4635500" cy="203200"/>
          </a:xfrm>
          <a:prstGeom prst="rect">
            <a:avLst/>
          </a:prstGeom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Core Capability</a:t>
            </a:r>
          </a:p>
        </p:txBody>
      </p:sp>
      <p:sp>
        <p:nvSpPr>
          <p:cNvPr id="637678761" name="Text">
    </p:cNvPr>
          <p:cNvSpPr>
            <a:spLocks noGrp="1"/>
          </p:cNvSpPr>
          <p:nvPr/>
        </p:nvSpPr>
        <p:spPr>
          <a:xfrm rot="0">
            <a:off x="508000" y="37719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Source</a:t>
            </a:r>
          </a:p>
        </p:txBody>
      </p:sp>
      <p:sp>
        <p:nvSpPr>
          <p:cNvPr id="1049598252" name="Text">
    </p:cNvPr>
          <p:cNvSpPr>
            <a:spLocks noGrp="1"/>
          </p:cNvSpPr>
          <p:nvPr/>
        </p:nvSpPr>
        <p:spPr>
          <a:xfrm rot="0">
            <a:off x="508000" y="3975100"/>
            <a:ext cx="1905000" cy="203200"/>
          </a:xfrm>
          <a:prstGeom prst="rect">
            <a:avLst/>
          </a:prstGeom>
          <a:solidFill>
            <a:srgbClr val="A2C7DA"/>
          </a:solidFill>
          <a:ln w="6350">
            <a:solidFill>
              <a:srgbClr val="7CA9BF"/>
            </a:solidFill>
            <a:prstDash val="solid"/>
          </a:ln>
        </p:spPr>
        <p:txBody>
          <a:bodyPr wrap="square" lIns="25400" tIns="25400" rIns="25400" bIns="25400" rtlCol="0" anchor="ctr"/>
          <a:lstStyle/>
          <a:p>
            <a:pPr algn="l">
              <a:lnSpc>
                <a:spcPct val="100%"/>
              </a:lnSpc>
              <a:defRPr sz="10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lang="en" sz="1000">
                <a:latin typeface="DejaVu Sans"/>
                <a:ea typeface="DejaVu Sans"/>
                <a:cs typeface="DejaVu Sans"/>
              </a:rPr>
              <a:t>Target</a:t>
            </a:r>
          </a:p>
        </p:txBody>
      </p:sp>
      <p:sp>
        <p:nvSpPr>
          <p:cNvPr id="915174304" name="Text">
    </p:cNvPr>
          <p:cNvSpPr>
            <a:spLocks noGrp="1"/>
          </p:cNvSpPr>
          <p:nvPr/>
        </p:nvSpPr>
        <p:spPr>
          <a:xfrm rot="0">
            <a:off x="508000" y="762000"/>
            <a:ext cx="6540500" cy="317500"/>
          </a:xfrm>
          <a:prstGeom prst="rect">
            <a:avLst/>
          </a:prstGeom>
        </p:spPr>
        <p:txBody>
          <a:bodyPr wrap="square" lIns="0" tIns="0" rIns="0" bIns="0" rtlCol="0" anchor="t"/>
          <a:lstStyle/>
          <a:p>
            <a:pPr algn="l">
              <a:lnSpc>
                <a:spcPct val="100%"/>
              </a:lnSpc>
              <a:defRPr sz="2000">
                <a:solidFill>
                  <a:srgbClr val="7CA9BF"/>
                </a:solidFill>
                <a:latin typeface="DejaVu Sans"/>
                <a:ea typeface="DejaVu Sans"/>
                <a:cs typeface="DejaVu Sans"/>
              </a:defRPr>
            </a:pPr>
            <a:r>
              <a:rPr lang="en" sz="2000">
                <a:latin typeface="DejaVu Sans"/>
                <a:ea typeface="DejaVu Sans"/>
                <a:cs typeface="DejaVu Sans"/>
              </a:rPr>
              <a:t>Relations</a:t>
            </a:r>
          </a:p>
        </p:txBody>
      </p:sp>
      <p:sp>
        <p:nvSpPr>
          <p:cNvPr id="1240800168" name="Text">
    </p:cNvPr>
          <p:cNvSpPr>
            <a:spLocks noGrp="1"/>
          </p:cNvSpPr>
          <p:nvPr/>
        </p:nvSpPr>
        <p:spPr>
          <a:xfrm rot="0">
            <a:off x="508000" y="10058400"/>
            <a:ext cx="51308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Normal &amp; Sketch</a:t>
            </a:r>
          </a:p>
        </p:txBody>
      </p:sp>
      <p:sp>
        <p:nvSpPr>
          <p:cNvPr id="2128992579" name="Text">
    </p:cNvPr>
          <p:cNvSpPr>
            <a:spLocks noGrp="1"/>
          </p:cNvSpPr>
          <p:nvPr/>
        </p:nvSpPr>
        <p:spPr>
          <a:xfrm rot="0">
            <a:off x="5638800" y="10058400"/>
            <a:ext cx="10287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r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8</a:t>
            </a:r>
          </a:p>
        </p:txBody>
      </p:sp>
      <p:sp>
        <p:nvSpPr>
          <p:cNvPr id="1580710224" name="Text">
    </p:cNvPr>
          <p:cNvSpPr>
            <a:spLocks noGrp="1"/>
          </p:cNvSpPr>
          <p:nvPr/>
        </p:nvSpPr>
        <p:spPr>
          <a:xfrm rot="0">
            <a:off x="6667500" y="10058400"/>
            <a:ext cx="381000" cy="635000"/>
          </a:xfrm>
          <a:prstGeom prst="rect">
            <a:avLst/>
          </a:prstGeom>
        </p:spPr>
        <p:txBody>
          <a:bodyPr wrap="square" lIns="0" tIns="0" rIns="0" bIns="0" rtlCol="0" anchor="ctr"/>
          <a:lstStyle/>
          <a:p>
            <a:pPr algn="l">
              <a:lnSpc>
                <a:spcPct val="100%"/>
              </a:lnSpc>
              <a:defRPr sz="800">
                <a:solidFill>
                  <a:srgbClr val="666666"/>
                </a:solidFill>
                <a:latin typeface="DejaVu Sans"/>
                <a:ea typeface="DejaVu Sans"/>
                <a:cs typeface="DejaVu Sans"/>
              </a:defRPr>
            </a:pPr>
            <a:r>
              <a:rPr lang="en" sz="800">
                <a:latin typeface="DejaVu Sans"/>
                <a:ea typeface="DejaVu Sans"/>
                <a:cs typeface="DejaVu Sans"/>
              </a:rPr>
              <a:t> /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BF0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JasperReports Library version 6.12.2-75c5e90a222ab406e416cbf590a5397028a52de3</Application>
</Properties>
</file>

<file path=docProps/core.xml><?xml version="1.0" encoding="utf-8"?>
<coreProperties xmlns="http://schemas.openxmlformats.org/package/2006/metadata/core-properties" xmlns:cp="http://schemas.openxmlformats.org/package/2006/metadata/core-properties" xmlns:dc="http://purl.org/dc/elements/1.1/" xmlns:dcterms="http://purl.org/dc/terms/" xmlns:xsi="http://www.w3.org/2001/XMLSchema-instance">
</coreProperties>
</file>